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Impact" charset="1" panose="020B0806030902050204"/>
      <p:regular r:id="rId14"/>
    </p:embeddedFont>
    <p:embeddedFont>
      <p:font typeface="Open Sans" charset="1" panose="00000000000000000000"/>
      <p:regular r:id="rId15"/>
    </p:embeddedFont>
    <p:embeddedFont>
      <p:font typeface="Canva Sans" charset="1" panose="020B0503030501040103"/>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0FAFF"/>
        </a:solidFill>
      </p:bgPr>
    </p:bg>
    <p:spTree>
      <p:nvGrpSpPr>
        <p:cNvPr id="1" name=""/>
        <p:cNvGrpSpPr/>
        <p:nvPr/>
      </p:nvGrpSpPr>
      <p:grpSpPr>
        <a:xfrm>
          <a:off x="0" y="0"/>
          <a:ext cx="0" cy="0"/>
          <a:chOff x="0" y="0"/>
          <a:chExt cx="0" cy="0"/>
        </a:xfrm>
      </p:grpSpPr>
      <p:sp>
        <p:nvSpPr>
          <p:cNvPr name="Freeform 2" id="2"/>
          <p:cNvSpPr/>
          <p:nvPr/>
        </p:nvSpPr>
        <p:spPr>
          <a:xfrm flipH="true" flipV="true" rot="0">
            <a:off x="-171306" y="9499384"/>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35223" y="9499384"/>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71306" y="8492855"/>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true" rot="-10800000">
            <a:off x="-171306" y="6479797"/>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10800000">
            <a:off x="-171306" y="7486326"/>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true" rot="0">
            <a:off x="835223" y="6479797"/>
            <a:ext cx="1006529" cy="1006529"/>
          </a:xfrm>
          <a:custGeom>
            <a:avLst/>
            <a:gdLst/>
            <a:ahLst/>
            <a:cxnLst/>
            <a:rect r="r" b="b" t="t" l="l"/>
            <a:pathLst>
              <a:path h="1006529" w="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true" rot="-10800000">
            <a:off x="-171306" y="5473268"/>
            <a:ext cx="2013058" cy="1006529"/>
          </a:xfrm>
          <a:custGeom>
            <a:avLst/>
            <a:gdLst/>
            <a:ahLst/>
            <a:cxnLst/>
            <a:rect r="r" b="b" t="t" l="l"/>
            <a:pathLst>
              <a:path h="1006529" w="2013058">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true" flipV="true" rot="-10800000">
            <a:off x="17500852" y="-203632"/>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10800000">
            <a:off x="15487794" y="-203632"/>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10800000">
            <a:off x="16494323" y="802897"/>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true" flipV="true" rot="0">
            <a:off x="17500852" y="2815955"/>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6494323" y="1809426"/>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true" rot="-10800000">
            <a:off x="16494323" y="2815955"/>
            <a:ext cx="1006529" cy="1006529"/>
          </a:xfrm>
          <a:custGeom>
            <a:avLst/>
            <a:gdLst/>
            <a:ahLst/>
            <a:cxnLst/>
            <a:rect r="r" b="b" t="t" l="l"/>
            <a:pathLst>
              <a:path h="1006529" w="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true" rot="0">
            <a:off x="16494323" y="3822484"/>
            <a:ext cx="2013058" cy="1006529"/>
          </a:xfrm>
          <a:custGeom>
            <a:avLst/>
            <a:gdLst/>
            <a:ahLst/>
            <a:cxnLst/>
            <a:rect r="r" b="b" t="t" l="l"/>
            <a:pathLst>
              <a:path h="1006529" w="2013058">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1841752" y="8492855"/>
            <a:ext cx="1006529" cy="1006529"/>
          </a:xfrm>
          <a:custGeom>
            <a:avLst/>
            <a:gdLst/>
            <a:ahLst/>
            <a:cxnLst/>
            <a:rect r="r" b="b" t="t" l="l"/>
            <a:pathLst>
              <a:path h="1006529" w="1006529">
                <a:moveTo>
                  <a:pt x="0" y="0"/>
                </a:moveTo>
                <a:lnTo>
                  <a:pt x="1006529" y="0"/>
                </a:lnTo>
                <a:lnTo>
                  <a:pt x="1006529" y="1006529"/>
                </a:lnTo>
                <a:lnTo>
                  <a:pt x="0" y="10065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true" flipV="true" rot="0">
            <a:off x="15487794" y="802897"/>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true" flipV="false" rot="-10800000">
            <a:off x="1841752" y="7486326"/>
            <a:ext cx="1006529" cy="1006529"/>
          </a:xfrm>
          <a:custGeom>
            <a:avLst/>
            <a:gdLst/>
            <a:ahLst/>
            <a:cxnLst/>
            <a:rect r="r" b="b" t="t" l="l"/>
            <a:pathLst>
              <a:path h="1006529" w="1006529">
                <a:moveTo>
                  <a:pt x="1006529" y="0"/>
                </a:moveTo>
                <a:lnTo>
                  <a:pt x="0" y="0"/>
                </a:lnTo>
                <a:lnTo>
                  <a:pt x="0" y="1006529"/>
                </a:lnTo>
                <a:lnTo>
                  <a:pt x="1006529" y="1006529"/>
                </a:lnTo>
                <a:lnTo>
                  <a:pt x="1006529"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9" id="19"/>
          <p:cNvSpPr/>
          <p:nvPr/>
        </p:nvSpPr>
        <p:spPr>
          <a:xfrm flipH="false" flipV="true" rot="-10800000">
            <a:off x="15487794" y="1809426"/>
            <a:ext cx="1006529" cy="1006529"/>
          </a:xfrm>
          <a:custGeom>
            <a:avLst/>
            <a:gdLst/>
            <a:ahLst/>
            <a:cxnLst/>
            <a:rect r="r" b="b" t="t" l="l"/>
            <a:pathLst>
              <a:path h="1006529" w="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0" id="20"/>
          <p:cNvSpPr txBox="true"/>
          <p:nvPr/>
        </p:nvSpPr>
        <p:spPr>
          <a:xfrm rot="0">
            <a:off x="2848281" y="1041022"/>
            <a:ext cx="12697994" cy="4742018"/>
          </a:xfrm>
          <a:prstGeom prst="rect">
            <a:avLst/>
          </a:prstGeom>
        </p:spPr>
        <p:txBody>
          <a:bodyPr anchor="t" rtlCol="false" tIns="0" lIns="0" bIns="0" rIns="0">
            <a:spAutoFit/>
          </a:bodyPr>
          <a:lstStyle/>
          <a:p>
            <a:pPr algn="ctr">
              <a:lnSpc>
                <a:spcPts val="11820"/>
              </a:lnSpc>
            </a:pPr>
            <a:r>
              <a:rPr lang="en-US" sz="14415">
                <a:solidFill>
                  <a:srgbClr val="322A65"/>
                </a:solidFill>
                <a:latin typeface="Impact"/>
                <a:ea typeface="Impact"/>
                <a:cs typeface="Impact"/>
                <a:sym typeface="Impact"/>
              </a:rPr>
              <a:t>VAYU</a:t>
            </a:r>
          </a:p>
          <a:p>
            <a:pPr algn="ctr">
              <a:lnSpc>
                <a:spcPts val="4592"/>
              </a:lnSpc>
            </a:pPr>
            <a:r>
              <a:rPr lang="en-US" sz="5600">
                <a:solidFill>
                  <a:srgbClr val="322A65"/>
                </a:solidFill>
                <a:latin typeface="Open Sans"/>
                <a:ea typeface="Open Sans"/>
                <a:cs typeface="Open Sans"/>
                <a:sym typeface="Open Sans"/>
              </a:rPr>
              <a:t>VERY ADAPTIVE YOUR UNIQUE</a:t>
            </a:r>
          </a:p>
          <a:p>
            <a:pPr algn="ctr">
              <a:lnSpc>
                <a:spcPts val="656"/>
              </a:lnSpc>
            </a:pPr>
          </a:p>
          <a:p>
            <a:pPr algn="ctr">
              <a:lnSpc>
                <a:spcPts val="4592"/>
              </a:lnSpc>
            </a:pPr>
            <a:r>
              <a:rPr lang="en-US" sz="5600">
                <a:solidFill>
                  <a:srgbClr val="322A65"/>
                </a:solidFill>
                <a:latin typeface="Open Sans"/>
                <a:ea typeface="Open Sans"/>
                <a:cs typeface="Open Sans"/>
                <a:sym typeface="Open Sans"/>
              </a:rPr>
              <a:t> WEATHER COMFORT SYSTEM</a:t>
            </a:r>
          </a:p>
          <a:p>
            <a:pPr algn="ctr">
              <a:lnSpc>
                <a:spcPts val="11820"/>
              </a:lnSpc>
            </a:pPr>
          </a:p>
          <a:p>
            <a:pPr algn="ctr">
              <a:lnSpc>
                <a:spcPts val="2624"/>
              </a:lnSpc>
            </a:pPr>
          </a:p>
        </p:txBody>
      </p:sp>
      <p:sp>
        <p:nvSpPr>
          <p:cNvPr name="TextBox 21" id="21"/>
          <p:cNvSpPr txBox="true"/>
          <p:nvPr/>
        </p:nvSpPr>
        <p:spPr>
          <a:xfrm rot="0">
            <a:off x="6000661" y="4484545"/>
            <a:ext cx="6590872" cy="1929105"/>
          </a:xfrm>
          <a:prstGeom prst="rect">
            <a:avLst/>
          </a:prstGeom>
        </p:spPr>
        <p:txBody>
          <a:bodyPr anchor="t" rtlCol="false" tIns="0" lIns="0" bIns="0" rIns="0">
            <a:spAutoFit/>
          </a:bodyPr>
          <a:lstStyle/>
          <a:p>
            <a:pPr algn="ctr">
              <a:lnSpc>
                <a:spcPts val="3491"/>
              </a:lnSpc>
            </a:pPr>
            <a:r>
              <a:rPr lang="en-US" sz="3491">
                <a:solidFill>
                  <a:srgbClr val="262F43"/>
                </a:solidFill>
                <a:latin typeface="Open Sans"/>
                <a:ea typeface="Open Sans"/>
                <a:cs typeface="Open Sans"/>
                <a:sym typeface="Open Sans"/>
              </a:rPr>
              <a:t>Presented By </a:t>
            </a:r>
          </a:p>
          <a:p>
            <a:pPr algn="ctr">
              <a:lnSpc>
                <a:spcPts val="3491"/>
              </a:lnSpc>
            </a:pPr>
          </a:p>
          <a:p>
            <a:pPr algn="ctr">
              <a:lnSpc>
                <a:spcPts val="7744"/>
              </a:lnSpc>
            </a:pPr>
            <a:r>
              <a:rPr lang="en-US" sz="7744">
                <a:solidFill>
                  <a:srgbClr val="322A65"/>
                </a:solidFill>
                <a:latin typeface="Impact"/>
                <a:ea typeface="Impact"/>
                <a:cs typeface="Impact"/>
                <a:sym typeface="Impact"/>
              </a:rPr>
              <a:t>CosmoCatalysts</a:t>
            </a:r>
          </a:p>
        </p:txBody>
      </p:sp>
      <p:sp>
        <p:nvSpPr>
          <p:cNvPr name="TextBox 22" id="22"/>
          <p:cNvSpPr txBox="true"/>
          <p:nvPr/>
        </p:nvSpPr>
        <p:spPr>
          <a:xfrm rot="0">
            <a:off x="1338487" y="6720516"/>
            <a:ext cx="16665629" cy="1455421"/>
          </a:xfrm>
          <a:prstGeom prst="rect">
            <a:avLst/>
          </a:prstGeom>
        </p:spPr>
        <p:txBody>
          <a:bodyPr anchor="t" rtlCol="false" tIns="0" lIns="0" bIns="0" rIns="0">
            <a:spAutoFit/>
          </a:bodyPr>
          <a:lstStyle/>
          <a:p>
            <a:pPr algn="ctr">
              <a:lnSpc>
                <a:spcPts val="5879"/>
              </a:lnSpc>
            </a:pPr>
            <a:r>
              <a:rPr lang="en-US" sz="4199">
                <a:solidFill>
                  <a:srgbClr val="322A65"/>
                </a:solidFill>
                <a:latin typeface="Canva Sans"/>
                <a:ea typeface="Canva Sans"/>
                <a:cs typeface="Canva Sans"/>
                <a:sym typeface="Canva Sans"/>
              </a:rPr>
              <a:t>Mayank Garg - mayankgarg785mi@gmail.com </a:t>
            </a:r>
          </a:p>
          <a:p>
            <a:pPr algn="ctr">
              <a:lnSpc>
                <a:spcPts val="5879"/>
              </a:lnSpc>
            </a:pPr>
            <a:r>
              <a:rPr lang="en-US" sz="4199">
                <a:solidFill>
                  <a:srgbClr val="322A65"/>
                </a:solidFill>
                <a:latin typeface="Canva Sans"/>
                <a:ea typeface="Canva Sans"/>
                <a:cs typeface="Canva Sans"/>
                <a:sym typeface="Canva Sans"/>
              </a:rPr>
              <a:t>Varuchi Maurya - varuchi09@gmail.com</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0FAFF"/>
        </a:solidFill>
      </p:bgPr>
    </p:bg>
    <p:spTree>
      <p:nvGrpSpPr>
        <p:cNvPr id="1" name=""/>
        <p:cNvGrpSpPr/>
        <p:nvPr/>
      </p:nvGrpSpPr>
      <p:grpSpPr>
        <a:xfrm>
          <a:off x="0" y="0"/>
          <a:ext cx="0" cy="0"/>
          <a:chOff x="0" y="0"/>
          <a:chExt cx="0" cy="0"/>
        </a:xfrm>
      </p:grpSpPr>
      <p:sp>
        <p:nvSpPr>
          <p:cNvPr name="Freeform 2" id="2"/>
          <p:cNvSpPr/>
          <p:nvPr/>
        </p:nvSpPr>
        <p:spPr>
          <a:xfrm flipH="true" flipV="true" rot="0">
            <a:off x="-171306" y="9499384"/>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35223" y="9499384"/>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71306" y="8492855"/>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true" rot="-10800000">
            <a:off x="-171306" y="6479797"/>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10800000">
            <a:off x="-171306" y="7486326"/>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true" rot="0">
            <a:off x="835223" y="6479797"/>
            <a:ext cx="1006529" cy="1006529"/>
          </a:xfrm>
          <a:custGeom>
            <a:avLst/>
            <a:gdLst/>
            <a:ahLst/>
            <a:cxnLst/>
            <a:rect r="r" b="b" t="t" l="l"/>
            <a:pathLst>
              <a:path h="1006529" w="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true" rot="-10800000">
            <a:off x="-171306" y="5473268"/>
            <a:ext cx="2013058" cy="1006529"/>
          </a:xfrm>
          <a:custGeom>
            <a:avLst/>
            <a:gdLst/>
            <a:ahLst/>
            <a:cxnLst/>
            <a:rect r="r" b="b" t="t" l="l"/>
            <a:pathLst>
              <a:path h="1006529" w="2013058">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true" flipV="true" rot="-10800000">
            <a:off x="17500852" y="-203632"/>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10800000">
            <a:off x="15487794" y="-203632"/>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10800000">
            <a:off x="16494323" y="802897"/>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true" flipV="true" rot="0">
            <a:off x="17500852" y="2815955"/>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6494323" y="1809426"/>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true" rot="-10800000">
            <a:off x="16494323" y="2815955"/>
            <a:ext cx="1006529" cy="1006529"/>
          </a:xfrm>
          <a:custGeom>
            <a:avLst/>
            <a:gdLst/>
            <a:ahLst/>
            <a:cxnLst/>
            <a:rect r="r" b="b" t="t" l="l"/>
            <a:pathLst>
              <a:path h="1006529" w="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true" rot="0">
            <a:off x="16494323" y="3822484"/>
            <a:ext cx="2013058" cy="1006529"/>
          </a:xfrm>
          <a:custGeom>
            <a:avLst/>
            <a:gdLst/>
            <a:ahLst/>
            <a:cxnLst/>
            <a:rect r="r" b="b" t="t" l="l"/>
            <a:pathLst>
              <a:path h="1006529" w="2013058">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1841752" y="8492855"/>
            <a:ext cx="1006529" cy="1006529"/>
          </a:xfrm>
          <a:custGeom>
            <a:avLst/>
            <a:gdLst/>
            <a:ahLst/>
            <a:cxnLst/>
            <a:rect r="r" b="b" t="t" l="l"/>
            <a:pathLst>
              <a:path h="1006529" w="1006529">
                <a:moveTo>
                  <a:pt x="0" y="0"/>
                </a:moveTo>
                <a:lnTo>
                  <a:pt x="1006529" y="0"/>
                </a:lnTo>
                <a:lnTo>
                  <a:pt x="1006529" y="1006529"/>
                </a:lnTo>
                <a:lnTo>
                  <a:pt x="0" y="10065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true" flipV="true" rot="0">
            <a:off x="15487794" y="802897"/>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true" flipV="false" rot="-10800000">
            <a:off x="1841752" y="7486326"/>
            <a:ext cx="1006529" cy="1006529"/>
          </a:xfrm>
          <a:custGeom>
            <a:avLst/>
            <a:gdLst/>
            <a:ahLst/>
            <a:cxnLst/>
            <a:rect r="r" b="b" t="t" l="l"/>
            <a:pathLst>
              <a:path h="1006529" w="1006529">
                <a:moveTo>
                  <a:pt x="1006529" y="0"/>
                </a:moveTo>
                <a:lnTo>
                  <a:pt x="0" y="0"/>
                </a:lnTo>
                <a:lnTo>
                  <a:pt x="0" y="1006529"/>
                </a:lnTo>
                <a:lnTo>
                  <a:pt x="1006529" y="1006529"/>
                </a:lnTo>
                <a:lnTo>
                  <a:pt x="1006529"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9" id="19"/>
          <p:cNvSpPr/>
          <p:nvPr/>
        </p:nvSpPr>
        <p:spPr>
          <a:xfrm flipH="false" flipV="true" rot="-10800000">
            <a:off x="15487794" y="1809426"/>
            <a:ext cx="1006529" cy="1006529"/>
          </a:xfrm>
          <a:custGeom>
            <a:avLst/>
            <a:gdLst/>
            <a:ahLst/>
            <a:cxnLst/>
            <a:rect r="r" b="b" t="t" l="l"/>
            <a:pathLst>
              <a:path h="1006529" w="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0" id="20"/>
          <p:cNvSpPr txBox="true"/>
          <p:nvPr/>
        </p:nvSpPr>
        <p:spPr>
          <a:xfrm rot="0">
            <a:off x="3989154" y="1525237"/>
            <a:ext cx="10085565" cy="1793983"/>
          </a:xfrm>
          <a:prstGeom prst="rect">
            <a:avLst/>
          </a:prstGeom>
        </p:spPr>
        <p:txBody>
          <a:bodyPr anchor="t" rtlCol="false" tIns="0" lIns="0" bIns="0" rIns="0">
            <a:spAutoFit/>
          </a:bodyPr>
          <a:lstStyle/>
          <a:p>
            <a:pPr algn="ctr">
              <a:lnSpc>
                <a:spcPts val="10842"/>
              </a:lnSpc>
            </a:pPr>
            <a:r>
              <a:rPr lang="en-US" sz="13222">
                <a:solidFill>
                  <a:srgbClr val="322A65"/>
                </a:solidFill>
                <a:latin typeface="Impact"/>
                <a:ea typeface="Impact"/>
                <a:cs typeface="Impact"/>
                <a:sym typeface="Impact"/>
              </a:rPr>
              <a:t>INTRODUCTION</a:t>
            </a:r>
          </a:p>
        </p:txBody>
      </p:sp>
      <p:sp>
        <p:nvSpPr>
          <p:cNvPr name="TextBox 21" id="21"/>
          <p:cNvSpPr txBox="true"/>
          <p:nvPr/>
        </p:nvSpPr>
        <p:spPr>
          <a:xfrm rot="0">
            <a:off x="2093384" y="3307717"/>
            <a:ext cx="14400939" cy="5950583"/>
          </a:xfrm>
          <a:prstGeom prst="rect">
            <a:avLst/>
          </a:prstGeom>
        </p:spPr>
        <p:txBody>
          <a:bodyPr anchor="t" rtlCol="false" tIns="0" lIns="0" bIns="0" rIns="0">
            <a:spAutoFit/>
          </a:bodyPr>
          <a:lstStyle/>
          <a:p>
            <a:pPr algn="ctr">
              <a:lnSpc>
                <a:spcPts val="4340"/>
              </a:lnSpc>
            </a:pPr>
            <a:r>
              <a:rPr lang="en-US" sz="3100">
                <a:solidFill>
                  <a:srgbClr val="322A65"/>
                </a:solidFill>
                <a:latin typeface="Open Sans"/>
                <a:ea typeface="Open Sans"/>
                <a:cs typeface="Open Sans"/>
                <a:sym typeface="Open Sans"/>
              </a:rPr>
              <a:t>Weather forecasts have always helped people plan their daily activities, but they often fail to reflect how the weather will actually feel to each individual. Factors like temperature, humidity, wind, and rainfall affect people differently based on their personal preferences, tolerance levels, and health conditions. The Personalized Weather Comfort App aims to bridge this gap by combining meteorological data with user-specific comfort profiles. Using data from NASA’s POWER API and a machine learning–based comfort model, the app predicts a Comfort Score (0–100) for any location and time, giving users clear, personalized insights such as Very Comfortable, Very Hot, or Very Windy. This approach moves beyond generic weather forecasts to deliver truly customized comfort predictions.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0FAFF"/>
        </a:solidFill>
      </p:bgPr>
    </p:bg>
    <p:spTree>
      <p:nvGrpSpPr>
        <p:cNvPr id="1" name=""/>
        <p:cNvGrpSpPr/>
        <p:nvPr/>
      </p:nvGrpSpPr>
      <p:grpSpPr>
        <a:xfrm>
          <a:off x="0" y="0"/>
          <a:ext cx="0" cy="0"/>
          <a:chOff x="0" y="0"/>
          <a:chExt cx="0" cy="0"/>
        </a:xfrm>
      </p:grpSpPr>
      <p:sp>
        <p:nvSpPr>
          <p:cNvPr name="Freeform 2" id="2"/>
          <p:cNvSpPr/>
          <p:nvPr/>
        </p:nvSpPr>
        <p:spPr>
          <a:xfrm flipH="true" flipV="true" rot="0">
            <a:off x="-171306" y="9499384"/>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35223" y="9499384"/>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71306" y="8492855"/>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true" rot="-10800000">
            <a:off x="-171306" y="6479797"/>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10800000">
            <a:off x="-171306" y="7486326"/>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true" rot="0">
            <a:off x="835223" y="6479797"/>
            <a:ext cx="1006529" cy="1006529"/>
          </a:xfrm>
          <a:custGeom>
            <a:avLst/>
            <a:gdLst/>
            <a:ahLst/>
            <a:cxnLst/>
            <a:rect r="r" b="b" t="t" l="l"/>
            <a:pathLst>
              <a:path h="1006529" w="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true" rot="-10800000">
            <a:off x="-171306" y="5473268"/>
            <a:ext cx="2013058" cy="1006529"/>
          </a:xfrm>
          <a:custGeom>
            <a:avLst/>
            <a:gdLst/>
            <a:ahLst/>
            <a:cxnLst/>
            <a:rect r="r" b="b" t="t" l="l"/>
            <a:pathLst>
              <a:path h="1006529" w="2013058">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true" flipV="true" rot="-10800000">
            <a:off x="17500852" y="-203632"/>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10800000">
            <a:off x="15487794" y="-203632"/>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10800000">
            <a:off x="16494323" y="802897"/>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true" flipV="true" rot="0">
            <a:off x="17500852" y="2815955"/>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6494323" y="1809426"/>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true" rot="-10800000">
            <a:off x="16494323" y="2815955"/>
            <a:ext cx="1006529" cy="1006529"/>
          </a:xfrm>
          <a:custGeom>
            <a:avLst/>
            <a:gdLst/>
            <a:ahLst/>
            <a:cxnLst/>
            <a:rect r="r" b="b" t="t" l="l"/>
            <a:pathLst>
              <a:path h="1006529" w="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true" rot="0">
            <a:off x="16494323" y="3822484"/>
            <a:ext cx="2013058" cy="1006529"/>
          </a:xfrm>
          <a:custGeom>
            <a:avLst/>
            <a:gdLst/>
            <a:ahLst/>
            <a:cxnLst/>
            <a:rect r="r" b="b" t="t" l="l"/>
            <a:pathLst>
              <a:path h="1006529" w="2013058">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1841752" y="8492855"/>
            <a:ext cx="1006529" cy="1006529"/>
          </a:xfrm>
          <a:custGeom>
            <a:avLst/>
            <a:gdLst/>
            <a:ahLst/>
            <a:cxnLst/>
            <a:rect r="r" b="b" t="t" l="l"/>
            <a:pathLst>
              <a:path h="1006529" w="1006529">
                <a:moveTo>
                  <a:pt x="0" y="0"/>
                </a:moveTo>
                <a:lnTo>
                  <a:pt x="1006529" y="0"/>
                </a:lnTo>
                <a:lnTo>
                  <a:pt x="1006529" y="1006529"/>
                </a:lnTo>
                <a:lnTo>
                  <a:pt x="0" y="10065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true" flipV="true" rot="0">
            <a:off x="15487794" y="802897"/>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true" flipV="false" rot="-10800000">
            <a:off x="1841752" y="7486326"/>
            <a:ext cx="1006529" cy="1006529"/>
          </a:xfrm>
          <a:custGeom>
            <a:avLst/>
            <a:gdLst/>
            <a:ahLst/>
            <a:cxnLst/>
            <a:rect r="r" b="b" t="t" l="l"/>
            <a:pathLst>
              <a:path h="1006529" w="1006529">
                <a:moveTo>
                  <a:pt x="1006529" y="0"/>
                </a:moveTo>
                <a:lnTo>
                  <a:pt x="0" y="0"/>
                </a:lnTo>
                <a:lnTo>
                  <a:pt x="0" y="1006529"/>
                </a:lnTo>
                <a:lnTo>
                  <a:pt x="1006529" y="1006529"/>
                </a:lnTo>
                <a:lnTo>
                  <a:pt x="1006529"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9" id="19"/>
          <p:cNvSpPr/>
          <p:nvPr/>
        </p:nvSpPr>
        <p:spPr>
          <a:xfrm flipH="false" flipV="true" rot="-10800000">
            <a:off x="15487794" y="1809426"/>
            <a:ext cx="1006529" cy="1006529"/>
          </a:xfrm>
          <a:custGeom>
            <a:avLst/>
            <a:gdLst/>
            <a:ahLst/>
            <a:cxnLst/>
            <a:rect r="r" b="b" t="t" l="l"/>
            <a:pathLst>
              <a:path h="1006529" w="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0" id="20"/>
          <p:cNvSpPr txBox="true"/>
          <p:nvPr/>
        </p:nvSpPr>
        <p:spPr>
          <a:xfrm rot="0">
            <a:off x="2345016" y="1012447"/>
            <a:ext cx="13142778" cy="1688729"/>
          </a:xfrm>
          <a:prstGeom prst="rect">
            <a:avLst/>
          </a:prstGeom>
        </p:spPr>
        <p:txBody>
          <a:bodyPr anchor="t" rtlCol="false" tIns="0" lIns="0" bIns="0" rIns="0">
            <a:spAutoFit/>
          </a:bodyPr>
          <a:lstStyle/>
          <a:p>
            <a:pPr algn="ctr">
              <a:lnSpc>
                <a:spcPts val="10224"/>
              </a:lnSpc>
            </a:pPr>
            <a:r>
              <a:rPr lang="en-US" sz="12468">
                <a:solidFill>
                  <a:srgbClr val="322A65"/>
                </a:solidFill>
                <a:latin typeface="Impact"/>
                <a:ea typeface="Impact"/>
                <a:cs typeface="Impact"/>
                <a:sym typeface="Impact"/>
              </a:rPr>
              <a:t>PROBLEM STATEMENT</a:t>
            </a:r>
          </a:p>
        </p:txBody>
      </p:sp>
      <p:sp>
        <p:nvSpPr>
          <p:cNvPr name="TextBox 21" id="21"/>
          <p:cNvSpPr txBox="true"/>
          <p:nvPr/>
        </p:nvSpPr>
        <p:spPr>
          <a:xfrm rot="0">
            <a:off x="2577162" y="2882422"/>
            <a:ext cx="13917161" cy="6493346"/>
          </a:xfrm>
          <a:prstGeom prst="rect">
            <a:avLst/>
          </a:prstGeom>
        </p:spPr>
        <p:txBody>
          <a:bodyPr anchor="t" rtlCol="false" tIns="0" lIns="0" bIns="0" rIns="0">
            <a:spAutoFit/>
          </a:bodyPr>
          <a:lstStyle/>
          <a:p>
            <a:pPr algn="l">
              <a:lnSpc>
                <a:spcPts val="4349"/>
              </a:lnSpc>
            </a:pPr>
            <a:r>
              <a:rPr lang="en-US" sz="3106">
                <a:solidFill>
                  <a:srgbClr val="322A65"/>
                </a:solidFill>
                <a:latin typeface="Open Sans"/>
                <a:ea typeface="Open Sans"/>
                <a:cs typeface="Open Sans"/>
                <a:sym typeface="Open Sans"/>
              </a:rPr>
              <a:t>Traditional weather forecasts provide information like temperature, humidity, wind speed, and rainfall, but they do not convey how these conditions will actually feel to individual users. Everyone experiences weather differently—what feels pleasant to one person might feel uncomfortable to another, depending on factors like heat or cold tolerance, humidity sensitivity, health conditions, and personal preferences.</a:t>
            </a:r>
          </a:p>
          <a:p>
            <a:pPr algn="l">
              <a:lnSpc>
                <a:spcPts val="4349"/>
              </a:lnSpc>
            </a:pPr>
            <a:r>
              <a:rPr lang="en-US" sz="3106">
                <a:solidFill>
                  <a:srgbClr val="322A65"/>
                </a:solidFill>
                <a:latin typeface="Open Sans"/>
                <a:ea typeface="Open Sans"/>
                <a:cs typeface="Open Sans"/>
                <a:sym typeface="Open Sans"/>
              </a:rPr>
              <a:t>As a result, people planning outdoor activities such as vacations, hiking, or events often struggle to determine whether the predicted weather will be comfortable for them personally. There is currently no tool that combines real weather data with user comfort profiles to deliver personalized comfort insights.</a:t>
            </a:r>
          </a:p>
          <a:p>
            <a:pPr algn="l">
              <a:lnSpc>
                <a:spcPts val="4349"/>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0FAFF"/>
        </a:solidFill>
      </p:bgPr>
    </p:bg>
    <p:spTree>
      <p:nvGrpSpPr>
        <p:cNvPr id="1" name=""/>
        <p:cNvGrpSpPr/>
        <p:nvPr/>
      </p:nvGrpSpPr>
      <p:grpSpPr>
        <a:xfrm>
          <a:off x="0" y="0"/>
          <a:ext cx="0" cy="0"/>
          <a:chOff x="0" y="0"/>
          <a:chExt cx="0" cy="0"/>
        </a:xfrm>
      </p:grpSpPr>
      <p:sp>
        <p:nvSpPr>
          <p:cNvPr name="Freeform 2" id="2"/>
          <p:cNvSpPr/>
          <p:nvPr/>
        </p:nvSpPr>
        <p:spPr>
          <a:xfrm flipH="true" flipV="true" rot="0">
            <a:off x="-171306" y="9499384"/>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35223" y="9499384"/>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71306" y="8492855"/>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true" rot="-10800000">
            <a:off x="-171306" y="6479797"/>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10800000">
            <a:off x="-171306" y="7486326"/>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true" rot="0">
            <a:off x="835223" y="6479797"/>
            <a:ext cx="1006529" cy="1006529"/>
          </a:xfrm>
          <a:custGeom>
            <a:avLst/>
            <a:gdLst/>
            <a:ahLst/>
            <a:cxnLst/>
            <a:rect r="r" b="b" t="t" l="l"/>
            <a:pathLst>
              <a:path h="1006529" w="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true" rot="-10800000">
            <a:off x="-171306" y="5473268"/>
            <a:ext cx="2013058" cy="1006529"/>
          </a:xfrm>
          <a:custGeom>
            <a:avLst/>
            <a:gdLst/>
            <a:ahLst/>
            <a:cxnLst/>
            <a:rect r="r" b="b" t="t" l="l"/>
            <a:pathLst>
              <a:path h="1006529" w="2013058">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true" flipV="true" rot="-10800000">
            <a:off x="17500852" y="-203632"/>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10800000">
            <a:off x="15487794" y="-203632"/>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10800000">
            <a:off x="16494323" y="802897"/>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true" flipV="true" rot="0">
            <a:off x="17500852" y="2815955"/>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6494323" y="1809426"/>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true" rot="-10800000">
            <a:off x="16494323" y="2815955"/>
            <a:ext cx="1006529" cy="1006529"/>
          </a:xfrm>
          <a:custGeom>
            <a:avLst/>
            <a:gdLst/>
            <a:ahLst/>
            <a:cxnLst/>
            <a:rect r="r" b="b" t="t" l="l"/>
            <a:pathLst>
              <a:path h="1006529" w="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true" rot="0">
            <a:off x="16494323" y="3822484"/>
            <a:ext cx="2013058" cy="1006529"/>
          </a:xfrm>
          <a:custGeom>
            <a:avLst/>
            <a:gdLst/>
            <a:ahLst/>
            <a:cxnLst/>
            <a:rect r="r" b="b" t="t" l="l"/>
            <a:pathLst>
              <a:path h="1006529" w="2013058">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1841752" y="8492855"/>
            <a:ext cx="1006529" cy="1006529"/>
          </a:xfrm>
          <a:custGeom>
            <a:avLst/>
            <a:gdLst/>
            <a:ahLst/>
            <a:cxnLst/>
            <a:rect r="r" b="b" t="t" l="l"/>
            <a:pathLst>
              <a:path h="1006529" w="1006529">
                <a:moveTo>
                  <a:pt x="0" y="0"/>
                </a:moveTo>
                <a:lnTo>
                  <a:pt x="1006529" y="0"/>
                </a:lnTo>
                <a:lnTo>
                  <a:pt x="1006529" y="1006529"/>
                </a:lnTo>
                <a:lnTo>
                  <a:pt x="0" y="10065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true" flipV="true" rot="0">
            <a:off x="15487794" y="802897"/>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true" flipV="false" rot="-10800000">
            <a:off x="1841752" y="7486326"/>
            <a:ext cx="1006529" cy="1006529"/>
          </a:xfrm>
          <a:custGeom>
            <a:avLst/>
            <a:gdLst/>
            <a:ahLst/>
            <a:cxnLst/>
            <a:rect r="r" b="b" t="t" l="l"/>
            <a:pathLst>
              <a:path h="1006529" w="1006529">
                <a:moveTo>
                  <a:pt x="1006529" y="0"/>
                </a:moveTo>
                <a:lnTo>
                  <a:pt x="0" y="0"/>
                </a:lnTo>
                <a:lnTo>
                  <a:pt x="0" y="1006529"/>
                </a:lnTo>
                <a:lnTo>
                  <a:pt x="1006529" y="1006529"/>
                </a:lnTo>
                <a:lnTo>
                  <a:pt x="1006529"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9" id="19"/>
          <p:cNvSpPr/>
          <p:nvPr/>
        </p:nvSpPr>
        <p:spPr>
          <a:xfrm flipH="false" flipV="true" rot="-10800000">
            <a:off x="15487794" y="1809426"/>
            <a:ext cx="1006529" cy="1006529"/>
          </a:xfrm>
          <a:custGeom>
            <a:avLst/>
            <a:gdLst/>
            <a:ahLst/>
            <a:cxnLst/>
            <a:rect r="r" b="b" t="t" l="l"/>
            <a:pathLst>
              <a:path h="1006529" w="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0" id="20"/>
          <p:cNvSpPr txBox="true"/>
          <p:nvPr/>
        </p:nvSpPr>
        <p:spPr>
          <a:xfrm rot="0">
            <a:off x="4564028" y="1021972"/>
            <a:ext cx="9159943" cy="1793983"/>
          </a:xfrm>
          <a:prstGeom prst="rect">
            <a:avLst/>
          </a:prstGeom>
        </p:spPr>
        <p:txBody>
          <a:bodyPr anchor="t" rtlCol="false" tIns="0" lIns="0" bIns="0" rIns="0">
            <a:spAutoFit/>
          </a:bodyPr>
          <a:lstStyle/>
          <a:p>
            <a:pPr algn="ctr">
              <a:lnSpc>
                <a:spcPts val="10842"/>
              </a:lnSpc>
            </a:pPr>
            <a:r>
              <a:rPr lang="en-US" sz="13222">
                <a:solidFill>
                  <a:srgbClr val="322A65"/>
                </a:solidFill>
                <a:latin typeface="Impact"/>
                <a:ea typeface="Impact"/>
                <a:cs typeface="Impact"/>
                <a:sym typeface="Impact"/>
              </a:rPr>
              <a:t>SOLUTION</a:t>
            </a:r>
          </a:p>
        </p:txBody>
      </p:sp>
      <p:sp>
        <p:nvSpPr>
          <p:cNvPr name="TextBox 21" id="21"/>
          <p:cNvSpPr txBox="true"/>
          <p:nvPr/>
        </p:nvSpPr>
        <p:spPr>
          <a:xfrm rot="0">
            <a:off x="3329068" y="2768330"/>
            <a:ext cx="11832708" cy="6537325"/>
          </a:xfrm>
          <a:prstGeom prst="rect">
            <a:avLst/>
          </a:prstGeom>
        </p:spPr>
        <p:txBody>
          <a:bodyPr anchor="t" rtlCol="false" tIns="0" lIns="0" bIns="0" rIns="0">
            <a:spAutoFit/>
          </a:bodyPr>
          <a:lstStyle/>
          <a:p>
            <a:pPr algn="l">
              <a:lnSpc>
                <a:spcPts val="3499"/>
              </a:lnSpc>
              <a:spcBef>
                <a:spcPct val="0"/>
              </a:spcBef>
            </a:pPr>
            <a:r>
              <a:rPr lang="en-US" sz="2499">
                <a:solidFill>
                  <a:srgbClr val="322A65"/>
                </a:solidFill>
                <a:latin typeface="Open Sans"/>
                <a:ea typeface="Open Sans"/>
                <a:cs typeface="Open Sans"/>
                <a:sym typeface="Open Sans"/>
              </a:rPr>
              <a:t>The proposed Personalized Weather Comfort App provides an intelligent and user-specific approach to weather forecasting. Instead of relying solely on general meteorological data, the app combines user preferences and machine learning to deliver a customized Comfort Score (0–100) for any given location and time.</a:t>
            </a:r>
          </a:p>
          <a:p>
            <a:pPr algn="l">
              <a:lnSpc>
                <a:spcPts val="3359"/>
              </a:lnSpc>
              <a:spcBef>
                <a:spcPct val="0"/>
              </a:spcBef>
            </a:pPr>
          </a:p>
          <a:p>
            <a:pPr algn="l">
              <a:lnSpc>
                <a:spcPts val="3499"/>
              </a:lnSpc>
              <a:spcBef>
                <a:spcPct val="0"/>
              </a:spcBef>
            </a:pPr>
            <a:r>
              <a:rPr lang="en-US" sz="2499">
                <a:solidFill>
                  <a:srgbClr val="322A65"/>
                </a:solidFill>
                <a:latin typeface="Open Sans"/>
                <a:ea typeface="Open Sans"/>
                <a:cs typeface="Open Sans"/>
                <a:sym typeface="Open Sans"/>
              </a:rPr>
              <a:t>The system works by:</a:t>
            </a:r>
          </a:p>
          <a:p>
            <a:pPr algn="l" marL="539749" indent="-269875" lvl="1">
              <a:lnSpc>
                <a:spcPts val="3499"/>
              </a:lnSpc>
              <a:buFont typeface="Arial"/>
              <a:buChar char="•"/>
            </a:pPr>
            <a:r>
              <a:rPr lang="en-US" sz="2499">
                <a:solidFill>
                  <a:srgbClr val="322A65"/>
                </a:solidFill>
                <a:latin typeface="Open Sans"/>
                <a:ea typeface="Open Sans"/>
                <a:cs typeface="Open Sans"/>
                <a:sym typeface="Open Sans"/>
              </a:rPr>
              <a:t>Collecting weather parameters such as temperature, humidity, wind speed, and precipitation from NASA’s POWER API.</a:t>
            </a:r>
          </a:p>
          <a:p>
            <a:pPr algn="l" marL="539749" indent="-269875" lvl="1">
              <a:lnSpc>
                <a:spcPts val="3499"/>
              </a:lnSpc>
              <a:buFont typeface="Arial"/>
              <a:buChar char="•"/>
            </a:pPr>
            <a:r>
              <a:rPr lang="en-US" sz="2499">
                <a:solidFill>
                  <a:srgbClr val="322A65"/>
                </a:solidFill>
                <a:latin typeface="Open Sans"/>
                <a:ea typeface="Open Sans"/>
                <a:cs typeface="Open Sans"/>
                <a:sym typeface="Open Sans"/>
              </a:rPr>
              <a:t>Building a User Comfort Profile through an onboarding quiz that captures personal tolerance levels for heat, cold, rain, and humidity.</a:t>
            </a:r>
          </a:p>
          <a:p>
            <a:pPr algn="l" marL="539749" indent="-269875" lvl="1">
              <a:lnSpc>
                <a:spcPts val="3499"/>
              </a:lnSpc>
              <a:buFont typeface="Arial"/>
              <a:buChar char="•"/>
            </a:pPr>
            <a:r>
              <a:rPr lang="en-US" sz="2499">
                <a:solidFill>
                  <a:srgbClr val="322A65"/>
                </a:solidFill>
                <a:latin typeface="Open Sans"/>
                <a:ea typeface="Open Sans"/>
                <a:cs typeface="Open Sans"/>
                <a:sym typeface="Open Sans"/>
              </a:rPr>
              <a:t>Using a Machine Learning model to match forecasted weather data with user comfort preferences and generate a personalized comfort score.</a:t>
            </a:r>
          </a:p>
          <a:p>
            <a:pPr algn="l" marL="539749" indent="-269875" lvl="1">
              <a:lnSpc>
                <a:spcPts val="3499"/>
              </a:lnSpc>
              <a:buFont typeface="Arial"/>
              <a:buChar char="•"/>
            </a:pPr>
            <a:r>
              <a:rPr lang="en-US" sz="2499">
                <a:solidFill>
                  <a:srgbClr val="322A65"/>
                </a:solidFill>
                <a:latin typeface="Open Sans"/>
                <a:ea typeface="Open Sans"/>
                <a:cs typeface="Open Sans"/>
                <a:sym typeface="Open Sans"/>
              </a:rPr>
              <a:t>Displaying results in a color-coded dashboard, labeling conditions as Very Hot, Very Cold, Very Wet, Very Windy, or Very Uncomfortable.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0FAFF"/>
        </a:solidFill>
      </p:bgPr>
    </p:bg>
    <p:spTree>
      <p:nvGrpSpPr>
        <p:cNvPr id="1" name=""/>
        <p:cNvGrpSpPr/>
        <p:nvPr/>
      </p:nvGrpSpPr>
      <p:grpSpPr>
        <a:xfrm>
          <a:off x="0" y="0"/>
          <a:ext cx="0" cy="0"/>
          <a:chOff x="0" y="0"/>
          <a:chExt cx="0" cy="0"/>
        </a:xfrm>
      </p:grpSpPr>
      <p:sp>
        <p:nvSpPr>
          <p:cNvPr name="Freeform 2" id="2"/>
          <p:cNvSpPr/>
          <p:nvPr/>
        </p:nvSpPr>
        <p:spPr>
          <a:xfrm flipH="true" flipV="true" rot="0">
            <a:off x="-171306" y="9499384"/>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35223" y="9499384"/>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71306" y="8492855"/>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true" rot="-10800000">
            <a:off x="-171306" y="6479797"/>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10800000">
            <a:off x="-171306" y="7486326"/>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true" rot="0">
            <a:off x="835223" y="6479797"/>
            <a:ext cx="1006529" cy="1006529"/>
          </a:xfrm>
          <a:custGeom>
            <a:avLst/>
            <a:gdLst/>
            <a:ahLst/>
            <a:cxnLst/>
            <a:rect r="r" b="b" t="t" l="l"/>
            <a:pathLst>
              <a:path h="1006529" w="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true" rot="-10800000">
            <a:off x="-171306" y="5473268"/>
            <a:ext cx="2013058" cy="1006529"/>
          </a:xfrm>
          <a:custGeom>
            <a:avLst/>
            <a:gdLst/>
            <a:ahLst/>
            <a:cxnLst/>
            <a:rect r="r" b="b" t="t" l="l"/>
            <a:pathLst>
              <a:path h="1006529" w="2013058">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true" flipV="true" rot="-10800000">
            <a:off x="17500852" y="-203632"/>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10800000">
            <a:off x="15487794" y="-203632"/>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10800000">
            <a:off x="16494323" y="802897"/>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true" flipV="true" rot="0">
            <a:off x="17500852" y="2815955"/>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6494323" y="1809426"/>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true" rot="-10800000">
            <a:off x="16494323" y="2815955"/>
            <a:ext cx="1006529" cy="1006529"/>
          </a:xfrm>
          <a:custGeom>
            <a:avLst/>
            <a:gdLst/>
            <a:ahLst/>
            <a:cxnLst/>
            <a:rect r="r" b="b" t="t" l="l"/>
            <a:pathLst>
              <a:path h="1006529" w="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true" rot="0">
            <a:off x="16494323" y="3822484"/>
            <a:ext cx="2013058" cy="1006529"/>
          </a:xfrm>
          <a:custGeom>
            <a:avLst/>
            <a:gdLst/>
            <a:ahLst/>
            <a:cxnLst/>
            <a:rect r="r" b="b" t="t" l="l"/>
            <a:pathLst>
              <a:path h="1006529" w="2013058">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1841752" y="8492855"/>
            <a:ext cx="1006529" cy="1006529"/>
          </a:xfrm>
          <a:custGeom>
            <a:avLst/>
            <a:gdLst/>
            <a:ahLst/>
            <a:cxnLst/>
            <a:rect r="r" b="b" t="t" l="l"/>
            <a:pathLst>
              <a:path h="1006529" w="1006529">
                <a:moveTo>
                  <a:pt x="0" y="0"/>
                </a:moveTo>
                <a:lnTo>
                  <a:pt x="1006529" y="0"/>
                </a:lnTo>
                <a:lnTo>
                  <a:pt x="1006529" y="1006529"/>
                </a:lnTo>
                <a:lnTo>
                  <a:pt x="0" y="10065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true" flipV="true" rot="0">
            <a:off x="15487794" y="802897"/>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true" flipV="false" rot="-10800000">
            <a:off x="1841752" y="7486326"/>
            <a:ext cx="1006529" cy="1006529"/>
          </a:xfrm>
          <a:custGeom>
            <a:avLst/>
            <a:gdLst/>
            <a:ahLst/>
            <a:cxnLst/>
            <a:rect r="r" b="b" t="t" l="l"/>
            <a:pathLst>
              <a:path h="1006529" w="1006529">
                <a:moveTo>
                  <a:pt x="1006529" y="0"/>
                </a:moveTo>
                <a:lnTo>
                  <a:pt x="0" y="0"/>
                </a:lnTo>
                <a:lnTo>
                  <a:pt x="0" y="1006529"/>
                </a:lnTo>
                <a:lnTo>
                  <a:pt x="1006529" y="1006529"/>
                </a:lnTo>
                <a:lnTo>
                  <a:pt x="1006529"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9" id="19"/>
          <p:cNvSpPr/>
          <p:nvPr/>
        </p:nvSpPr>
        <p:spPr>
          <a:xfrm flipH="false" flipV="true" rot="-10800000">
            <a:off x="15487794" y="1809426"/>
            <a:ext cx="1006529" cy="1006529"/>
          </a:xfrm>
          <a:custGeom>
            <a:avLst/>
            <a:gdLst/>
            <a:ahLst/>
            <a:cxnLst/>
            <a:rect r="r" b="b" t="t" l="l"/>
            <a:pathLst>
              <a:path h="1006529" w="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0" id="20"/>
          <p:cNvSpPr txBox="true"/>
          <p:nvPr/>
        </p:nvSpPr>
        <p:spPr>
          <a:xfrm rot="0">
            <a:off x="4040153" y="873760"/>
            <a:ext cx="10437990" cy="1793983"/>
          </a:xfrm>
          <a:prstGeom prst="rect">
            <a:avLst/>
          </a:prstGeom>
        </p:spPr>
        <p:txBody>
          <a:bodyPr anchor="t" rtlCol="false" tIns="0" lIns="0" bIns="0" rIns="0">
            <a:spAutoFit/>
          </a:bodyPr>
          <a:lstStyle/>
          <a:p>
            <a:pPr algn="ctr">
              <a:lnSpc>
                <a:spcPts val="10842"/>
              </a:lnSpc>
            </a:pPr>
            <a:r>
              <a:rPr lang="en-US" sz="13222">
                <a:solidFill>
                  <a:srgbClr val="322A65"/>
                </a:solidFill>
                <a:latin typeface="Impact"/>
                <a:ea typeface="Impact"/>
                <a:cs typeface="Impact"/>
                <a:sym typeface="Impact"/>
              </a:rPr>
              <a:t>METHODOLOGY </a:t>
            </a:r>
          </a:p>
        </p:txBody>
      </p:sp>
      <p:sp>
        <p:nvSpPr>
          <p:cNvPr name="TextBox 21" id="21"/>
          <p:cNvSpPr txBox="true"/>
          <p:nvPr/>
        </p:nvSpPr>
        <p:spPr>
          <a:xfrm rot="0">
            <a:off x="2345016" y="2629643"/>
            <a:ext cx="14149307" cy="7691729"/>
          </a:xfrm>
          <a:prstGeom prst="rect">
            <a:avLst/>
          </a:prstGeom>
        </p:spPr>
        <p:txBody>
          <a:bodyPr anchor="t" rtlCol="false" tIns="0" lIns="0" bIns="0" rIns="0">
            <a:spAutoFit/>
          </a:bodyPr>
          <a:lstStyle/>
          <a:p>
            <a:pPr algn="l">
              <a:lnSpc>
                <a:spcPts val="3396"/>
              </a:lnSpc>
            </a:pPr>
            <a:r>
              <a:rPr lang="en-US" sz="2426">
                <a:solidFill>
                  <a:srgbClr val="322A65"/>
                </a:solidFill>
                <a:latin typeface="Open Sans"/>
                <a:ea typeface="Open Sans"/>
                <a:cs typeface="Open Sans"/>
                <a:sym typeface="Open Sans"/>
              </a:rPr>
              <a:t>The development of the Personalized Weather Comfort App follows a structured data science workflow that integrates weather data, user preferences, and machine learning techniques.</a:t>
            </a:r>
          </a:p>
          <a:p>
            <a:pPr algn="l" marL="523780" indent="-261890" lvl="1">
              <a:lnSpc>
                <a:spcPts val="3396"/>
              </a:lnSpc>
              <a:buAutoNum type="arabicPeriod" startAt="1"/>
            </a:pPr>
            <a:r>
              <a:rPr lang="en-US" sz="2426">
                <a:solidFill>
                  <a:srgbClr val="322A65"/>
                </a:solidFill>
                <a:latin typeface="Open Sans"/>
                <a:ea typeface="Open Sans"/>
                <a:cs typeface="Open Sans"/>
                <a:sym typeface="Open Sans"/>
              </a:rPr>
              <a:t>Data Collection</a:t>
            </a:r>
          </a:p>
          <a:p>
            <a:pPr algn="l" marL="1047561" indent="-349187" lvl="2">
              <a:lnSpc>
                <a:spcPts val="3396"/>
              </a:lnSpc>
              <a:buFont typeface="Arial"/>
              <a:buChar char="⚬"/>
            </a:pPr>
            <a:r>
              <a:rPr lang="en-US" sz="2426">
                <a:solidFill>
                  <a:srgbClr val="322A65"/>
                </a:solidFill>
                <a:latin typeface="Open Sans"/>
                <a:ea typeface="Open Sans"/>
                <a:cs typeface="Open Sans"/>
                <a:sym typeface="Open Sans"/>
              </a:rPr>
              <a:t>Weather data (temperature, humidity, wind speed, precipitation) is collected using the NASA POWER API.</a:t>
            </a:r>
          </a:p>
          <a:p>
            <a:pPr algn="l" marL="1047561" indent="-349187" lvl="2">
              <a:lnSpc>
                <a:spcPts val="3396"/>
              </a:lnSpc>
              <a:buFont typeface="Arial"/>
              <a:buChar char="⚬"/>
            </a:pPr>
            <a:r>
              <a:rPr lang="en-US" sz="2426">
                <a:solidFill>
                  <a:srgbClr val="322A65"/>
                </a:solidFill>
                <a:latin typeface="Open Sans"/>
                <a:ea typeface="Open Sans"/>
                <a:cs typeface="Open Sans"/>
                <a:sym typeface="Open Sans"/>
              </a:rPr>
              <a:t>User preference data (temperature range, humidity tolerance, rain preference, activity level, etc.) is stored in a local database.</a:t>
            </a:r>
          </a:p>
          <a:p>
            <a:pPr algn="l" marL="523780" indent="-261890" lvl="1">
              <a:lnSpc>
                <a:spcPts val="3396"/>
              </a:lnSpc>
              <a:buAutoNum type="arabicPeriod" startAt="1"/>
            </a:pPr>
            <a:r>
              <a:rPr lang="en-US" sz="2426">
                <a:solidFill>
                  <a:srgbClr val="322A65"/>
                </a:solidFill>
                <a:latin typeface="Open Sans"/>
                <a:ea typeface="Open Sans"/>
                <a:cs typeface="Open Sans"/>
                <a:sym typeface="Open Sans"/>
              </a:rPr>
              <a:t>Data Preprocessing</a:t>
            </a:r>
          </a:p>
          <a:p>
            <a:pPr algn="l" marL="1047561" indent="-349187" lvl="2">
              <a:lnSpc>
                <a:spcPts val="3396"/>
              </a:lnSpc>
              <a:buFont typeface="Arial"/>
              <a:buChar char="⚬"/>
            </a:pPr>
            <a:r>
              <a:rPr lang="en-US" sz="2426">
                <a:solidFill>
                  <a:srgbClr val="322A65"/>
                </a:solidFill>
                <a:latin typeface="Open Sans"/>
                <a:ea typeface="Open Sans"/>
                <a:cs typeface="Open Sans"/>
                <a:sym typeface="Open Sans"/>
              </a:rPr>
              <a:t>The collected data is cleaned and formatted.</a:t>
            </a:r>
          </a:p>
          <a:p>
            <a:pPr algn="l" marL="1047561" indent="-349187" lvl="2">
              <a:lnSpc>
                <a:spcPts val="3396"/>
              </a:lnSpc>
              <a:buFont typeface="Arial"/>
              <a:buChar char="⚬"/>
            </a:pPr>
            <a:r>
              <a:rPr lang="en-US" sz="2426">
                <a:solidFill>
                  <a:srgbClr val="322A65"/>
                </a:solidFill>
                <a:latin typeface="Open Sans"/>
                <a:ea typeface="Open Sans"/>
                <a:cs typeface="Open Sans"/>
                <a:sym typeface="Open Sans"/>
              </a:rPr>
              <a:t>Missing values are handled, and categorical variables (like “humidity_tolerance”) are encoded.</a:t>
            </a:r>
          </a:p>
          <a:p>
            <a:pPr algn="l" marL="1047561" indent="-349187" lvl="2">
              <a:lnSpc>
                <a:spcPts val="3396"/>
              </a:lnSpc>
              <a:buFont typeface="Arial"/>
              <a:buChar char="⚬"/>
            </a:pPr>
            <a:r>
              <a:rPr lang="en-US" sz="2426">
                <a:solidFill>
                  <a:srgbClr val="322A65"/>
                </a:solidFill>
                <a:latin typeface="Open Sans"/>
                <a:ea typeface="Open Sans"/>
                <a:cs typeface="Open Sans"/>
                <a:sym typeface="Open Sans"/>
              </a:rPr>
              <a:t>Numerical features are standardized using StandardScaler to ensure balanced model learning.</a:t>
            </a:r>
          </a:p>
          <a:p>
            <a:pPr algn="l" marL="523780" indent="-261890" lvl="1">
              <a:lnSpc>
                <a:spcPts val="3396"/>
              </a:lnSpc>
              <a:buAutoNum type="arabicPeriod" startAt="1"/>
            </a:pPr>
            <a:r>
              <a:rPr lang="en-US" sz="2426">
                <a:solidFill>
                  <a:srgbClr val="322A65"/>
                </a:solidFill>
                <a:latin typeface="Open Sans"/>
                <a:ea typeface="Open Sans"/>
                <a:cs typeface="Open Sans"/>
                <a:sym typeface="Open Sans"/>
              </a:rPr>
              <a:t>Feature Engineering</a:t>
            </a:r>
          </a:p>
          <a:p>
            <a:pPr algn="l" marL="1047561" indent="-349187" lvl="2">
              <a:lnSpc>
                <a:spcPts val="3396"/>
              </a:lnSpc>
              <a:buFont typeface="Arial"/>
              <a:buChar char="⚬"/>
            </a:pPr>
            <a:r>
              <a:rPr lang="en-US" sz="2426">
                <a:solidFill>
                  <a:srgbClr val="322A65"/>
                </a:solidFill>
                <a:latin typeface="Open Sans"/>
                <a:ea typeface="Open Sans"/>
                <a:cs typeface="Open Sans"/>
                <a:sym typeface="Open Sans"/>
              </a:rPr>
              <a:t>Derived features such as difference between preferred and actual temperature are calculated.</a:t>
            </a:r>
          </a:p>
          <a:p>
            <a:pPr algn="l" marL="1047561" indent="-349187" lvl="2">
              <a:lnSpc>
                <a:spcPts val="3396"/>
              </a:lnSpc>
              <a:buFont typeface="Arial"/>
              <a:buChar char="⚬"/>
            </a:pPr>
            <a:r>
              <a:rPr lang="en-US" sz="2426">
                <a:solidFill>
                  <a:srgbClr val="322A65"/>
                </a:solidFill>
                <a:latin typeface="Open Sans"/>
                <a:ea typeface="Open Sans"/>
                <a:cs typeface="Open Sans"/>
                <a:sym typeface="Open Sans"/>
              </a:rPr>
              <a:t>These features help the model better understand personal comfort patterns.</a:t>
            </a:r>
          </a:p>
          <a:p>
            <a:pPr algn="ctr" marL="523780" indent="-261890" lvl="1">
              <a:lnSpc>
                <a:spcPts val="3396"/>
              </a:lnSpc>
              <a:spcBef>
                <a:spcPct val="0"/>
              </a:spcBef>
              <a:buAutoNum type="arabicPeriod" startAt="1"/>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0FAFF"/>
        </a:solidFill>
      </p:bgPr>
    </p:bg>
    <p:spTree>
      <p:nvGrpSpPr>
        <p:cNvPr id="1" name=""/>
        <p:cNvGrpSpPr/>
        <p:nvPr/>
      </p:nvGrpSpPr>
      <p:grpSpPr>
        <a:xfrm>
          <a:off x="0" y="0"/>
          <a:ext cx="0" cy="0"/>
          <a:chOff x="0" y="0"/>
          <a:chExt cx="0" cy="0"/>
        </a:xfrm>
      </p:grpSpPr>
      <p:sp>
        <p:nvSpPr>
          <p:cNvPr name="Freeform 2" id="2"/>
          <p:cNvSpPr/>
          <p:nvPr/>
        </p:nvSpPr>
        <p:spPr>
          <a:xfrm flipH="true" flipV="true" rot="0">
            <a:off x="-171306" y="9499384"/>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35223" y="9499384"/>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71306" y="8492855"/>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true" rot="-10800000">
            <a:off x="-171306" y="6479797"/>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10800000">
            <a:off x="-171306" y="7486326"/>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true" rot="0">
            <a:off x="835223" y="6479797"/>
            <a:ext cx="1006529" cy="1006529"/>
          </a:xfrm>
          <a:custGeom>
            <a:avLst/>
            <a:gdLst/>
            <a:ahLst/>
            <a:cxnLst/>
            <a:rect r="r" b="b" t="t" l="l"/>
            <a:pathLst>
              <a:path h="1006529" w="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true" rot="-10800000">
            <a:off x="-171306" y="5473268"/>
            <a:ext cx="2013058" cy="1006529"/>
          </a:xfrm>
          <a:custGeom>
            <a:avLst/>
            <a:gdLst/>
            <a:ahLst/>
            <a:cxnLst/>
            <a:rect r="r" b="b" t="t" l="l"/>
            <a:pathLst>
              <a:path h="1006529" w="2013058">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true" flipV="true" rot="-10800000">
            <a:off x="17500852" y="-203632"/>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10800000">
            <a:off x="15487794" y="-203632"/>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10800000">
            <a:off x="16494323" y="802897"/>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true" flipV="true" rot="0">
            <a:off x="17500852" y="2815955"/>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6494323" y="1809426"/>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true" rot="-10800000">
            <a:off x="16494323" y="2815955"/>
            <a:ext cx="1006529" cy="1006529"/>
          </a:xfrm>
          <a:custGeom>
            <a:avLst/>
            <a:gdLst/>
            <a:ahLst/>
            <a:cxnLst/>
            <a:rect r="r" b="b" t="t" l="l"/>
            <a:pathLst>
              <a:path h="1006529" w="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true" rot="0">
            <a:off x="16494323" y="3822484"/>
            <a:ext cx="2013058" cy="1006529"/>
          </a:xfrm>
          <a:custGeom>
            <a:avLst/>
            <a:gdLst/>
            <a:ahLst/>
            <a:cxnLst/>
            <a:rect r="r" b="b" t="t" l="l"/>
            <a:pathLst>
              <a:path h="1006529" w="2013058">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1841752" y="8492855"/>
            <a:ext cx="1006529" cy="1006529"/>
          </a:xfrm>
          <a:custGeom>
            <a:avLst/>
            <a:gdLst/>
            <a:ahLst/>
            <a:cxnLst/>
            <a:rect r="r" b="b" t="t" l="l"/>
            <a:pathLst>
              <a:path h="1006529" w="1006529">
                <a:moveTo>
                  <a:pt x="0" y="0"/>
                </a:moveTo>
                <a:lnTo>
                  <a:pt x="1006529" y="0"/>
                </a:lnTo>
                <a:lnTo>
                  <a:pt x="1006529" y="1006529"/>
                </a:lnTo>
                <a:lnTo>
                  <a:pt x="0" y="10065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true" flipV="true" rot="0">
            <a:off x="15487794" y="802897"/>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true" flipV="false" rot="-10800000">
            <a:off x="1841752" y="7486326"/>
            <a:ext cx="1006529" cy="1006529"/>
          </a:xfrm>
          <a:custGeom>
            <a:avLst/>
            <a:gdLst/>
            <a:ahLst/>
            <a:cxnLst/>
            <a:rect r="r" b="b" t="t" l="l"/>
            <a:pathLst>
              <a:path h="1006529" w="1006529">
                <a:moveTo>
                  <a:pt x="1006529" y="0"/>
                </a:moveTo>
                <a:lnTo>
                  <a:pt x="0" y="0"/>
                </a:lnTo>
                <a:lnTo>
                  <a:pt x="0" y="1006529"/>
                </a:lnTo>
                <a:lnTo>
                  <a:pt x="1006529" y="1006529"/>
                </a:lnTo>
                <a:lnTo>
                  <a:pt x="1006529"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9" id="19"/>
          <p:cNvSpPr/>
          <p:nvPr/>
        </p:nvSpPr>
        <p:spPr>
          <a:xfrm flipH="false" flipV="true" rot="-10800000">
            <a:off x="15487794" y="1809426"/>
            <a:ext cx="1006529" cy="1006529"/>
          </a:xfrm>
          <a:custGeom>
            <a:avLst/>
            <a:gdLst/>
            <a:ahLst/>
            <a:cxnLst/>
            <a:rect r="r" b="b" t="t" l="l"/>
            <a:pathLst>
              <a:path h="1006529" w="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0" id="20"/>
          <p:cNvSpPr txBox="true"/>
          <p:nvPr/>
        </p:nvSpPr>
        <p:spPr>
          <a:xfrm rot="0">
            <a:off x="9139238" y="4044598"/>
            <a:ext cx="9525" cy="453390"/>
          </a:xfrm>
          <a:prstGeom prst="rect">
            <a:avLst/>
          </a:prstGeom>
        </p:spPr>
        <p:txBody>
          <a:bodyPr anchor="t" rtlCol="false" tIns="0" lIns="0" bIns="0" rIns="0">
            <a:spAutoFit/>
          </a:bodyPr>
          <a:lstStyle/>
          <a:p>
            <a:pPr algn="ctr">
              <a:lnSpc>
                <a:spcPts val="3359"/>
              </a:lnSpc>
              <a:spcBef>
                <a:spcPct val="0"/>
              </a:spcBef>
            </a:pPr>
          </a:p>
        </p:txBody>
      </p:sp>
      <p:sp>
        <p:nvSpPr>
          <p:cNvPr name="TextBox 21" id="21"/>
          <p:cNvSpPr txBox="true"/>
          <p:nvPr/>
        </p:nvSpPr>
        <p:spPr>
          <a:xfrm rot="0">
            <a:off x="1243679" y="971550"/>
            <a:ext cx="14842188" cy="5929630"/>
          </a:xfrm>
          <a:prstGeom prst="rect">
            <a:avLst/>
          </a:prstGeom>
        </p:spPr>
        <p:txBody>
          <a:bodyPr anchor="t" rtlCol="false" tIns="0" lIns="0" bIns="0" rIns="0">
            <a:spAutoFit/>
          </a:bodyPr>
          <a:lstStyle/>
          <a:p>
            <a:pPr algn="l" marL="604519" indent="-302260" lvl="1">
              <a:lnSpc>
                <a:spcPts val="3919"/>
              </a:lnSpc>
              <a:buFont typeface="Arial"/>
              <a:buChar char="•"/>
            </a:pPr>
            <a:r>
              <a:rPr lang="en-US" sz="2799">
                <a:solidFill>
                  <a:srgbClr val="322A65"/>
                </a:solidFill>
                <a:latin typeface="Open Sans"/>
                <a:ea typeface="Open Sans"/>
                <a:cs typeface="Open Sans"/>
                <a:sym typeface="Open Sans"/>
              </a:rPr>
              <a:t>Model Training</a:t>
            </a:r>
          </a:p>
          <a:p>
            <a:pPr algn="l" marL="1209039" indent="-403013" lvl="2">
              <a:lnSpc>
                <a:spcPts val="3919"/>
              </a:lnSpc>
              <a:buFont typeface="Arial"/>
              <a:buChar char="⚬"/>
            </a:pPr>
            <a:r>
              <a:rPr lang="en-US" sz="2799">
                <a:solidFill>
                  <a:srgbClr val="322A65"/>
                </a:solidFill>
                <a:latin typeface="Open Sans"/>
                <a:ea typeface="Open Sans"/>
                <a:cs typeface="Open Sans"/>
                <a:sym typeface="Open Sans"/>
              </a:rPr>
              <a:t>A Ridge Regression / Random Forest model is trained using the combined dataset of user preferences and weather logs.</a:t>
            </a:r>
          </a:p>
          <a:p>
            <a:pPr algn="l" marL="1209039" indent="-403013" lvl="2">
              <a:lnSpc>
                <a:spcPts val="3919"/>
              </a:lnSpc>
              <a:buFont typeface="Arial"/>
              <a:buChar char="⚬"/>
            </a:pPr>
            <a:r>
              <a:rPr lang="en-US" sz="2799">
                <a:solidFill>
                  <a:srgbClr val="322A65"/>
                </a:solidFill>
                <a:latin typeface="Open Sans"/>
                <a:ea typeface="Open Sans"/>
                <a:cs typeface="Open Sans"/>
                <a:sym typeface="Open Sans"/>
              </a:rPr>
              <a:t>The model learns to predict the Comfort Score (0–100) for different conditions.</a:t>
            </a:r>
          </a:p>
          <a:p>
            <a:pPr algn="l" marL="604519" indent="-302260" lvl="1">
              <a:lnSpc>
                <a:spcPts val="3919"/>
              </a:lnSpc>
              <a:buFont typeface="Arial"/>
              <a:buChar char="•"/>
            </a:pPr>
            <a:r>
              <a:rPr lang="en-US" sz="2799">
                <a:solidFill>
                  <a:srgbClr val="322A65"/>
                </a:solidFill>
                <a:latin typeface="Open Sans"/>
                <a:ea typeface="Open Sans"/>
                <a:cs typeface="Open Sans"/>
                <a:sym typeface="Open Sans"/>
              </a:rPr>
              <a:t>Evaluation &amp; Optimization</a:t>
            </a:r>
          </a:p>
          <a:p>
            <a:pPr algn="l" marL="1209039" indent="-403013" lvl="2">
              <a:lnSpc>
                <a:spcPts val="3919"/>
              </a:lnSpc>
              <a:buFont typeface="Arial"/>
              <a:buChar char="⚬"/>
            </a:pPr>
            <a:r>
              <a:rPr lang="en-US" sz="2799">
                <a:solidFill>
                  <a:srgbClr val="322A65"/>
                </a:solidFill>
                <a:latin typeface="Open Sans"/>
                <a:ea typeface="Open Sans"/>
                <a:cs typeface="Open Sans"/>
                <a:sym typeface="Open Sans"/>
              </a:rPr>
              <a:t>Model performance is evaluated using metrics like R², MAE, and RMSE.</a:t>
            </a:r>
          </a:p>
          <a:p>
            <a:pPr algn="l" marL="1209039" indent="-403013" lvl="2">
              <a:lnSpc>
                <a:spcPts val="3919"/>
              </a:lnSpc>
              <a:buFont typeface="Arial"/>
              <a:buChar char="⚬"/>
            </a:pPr>
            <a:r>
              <a:rPr lang="en-US" sz="2799">
                <a:solidFill>
                  <a:srgbClr val="322A65"/>
                </a:solidFill>
                <a:latin typeface="Open Sans"/>
                <a:ea typeface="Open Sans"/>
                <a:cs typeface="Open Sans"/>
                <a:sym typeface="Open Sans"/>
              </a:rPr>
              <a:t>Hyperparameters are tuned to improve prediction accuracy.</a:t>
            </a:r>
          </a:p>
          <a:p>
            <a:pPr algn="l" marL="604519" indent="-302260" lvl="1">
              <a:lnSpc>
                <a:spcPts val="3919"/>
              </a:lnSpc>
              <a:buFont typeface="Arial"/>
              <a:buChar char="•"/>
            </a:pPr>
            <a:r>
              <a:rPr lang="en-US" sz="2799">
                <a:solidFill>
                  <a:srgbClr val="322A65"/>
                </a:solidFill>
                <a:latin typeface="Open Sans"/>
                <a:ea typeface="Open Sans"/>
                <a:cs typeface="Open Sans"/>
                <a:sym typeface="Open Sans"/>
              </a:rPr>
              <a:t>Deployment</a:t>
            </a:r>
          </a:p>
          <a:p>
            <a:pPr algn="l" marL="1209039" indent="-403013" lvl="2">
              <a:lnSpc>
                <a:spcPts val="3919"/>
              </a:lnSpc>
              <a:buFont typeface="Arial"/>
              <a:buChar char="⚬"/>
            </a:pPr>
            <a:r>
              <a:rPr lang="en-US" sz="2799">
                <a:solidFill>
                  <a:srgbClr val="322A65"/>
                </a:solidFill>
                <a:latin typeface="Open Sans"/>
                <a:ea typeface="Open Sans"/>
                <a:cs typeface="Open Sans"/>
                <a:sym typeface="Open Sans"/>
              </a:rPr>
              <a:t>The trained model is integrated into a Flask-based API.</a:t>
            </a:r>
          </a:p>
          <a:p>
            <a:pPr algn="l" marL="1209039" indent="-403013" lvl="2">
              <a:lnSpc>
                <a:spcPts val="3919"/>
              </a:lnSpc>
              <a:buFont typeface="Arial"/>
              <a:buChar char="⚬"/>
            </a:pPr>
            <a:r>
              <a:rPr lang="en-US" sz="2799">
                <a:solidFill>
                  <a:srgbClr val="322A65"/>
                </a:solidFill>
                <a:latin typeface="Open Sans"/>
                <a:ea typeface="Open Sans"/>
                <a:cs typeface="Open Sans"/>
                <a:sym typeface="Open Sans"/>
              </a:rPr>
              <a:t>Users receive personalized comfort scores and recommendations through the app interface.</a:t>
            </a:r>
          </a:p>
          <a:p>
            <a:pPr algn="l">
              <a:lnSpc>
                <a:spcPts val="3919"/>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0FAFF"/>
        </a:solidFill>
      </p:bgPr>
    </p:bg>
    <p:spTree>
      <p:nvGrpSpPr>
        <p:cNvPr id="1" name=""/>
        <p:cNvGrpSpPr/>
        <p:nvPr/>
      </p:nvGrpSpPr>
      <p:grpSpPr>
        <a:xfrm>
          <a:off x="0" y="0"/>
          <a:ext cx="0" cy="0"/>
          <a:chOff x="0" y="0"/>
          <a:chExt cx="0" cy="0"/>
        </a:xfrm>
      </p:grpSpPr>
      <p:sp>
        <p:nvSpPr>
          <p:cNvPr name="Freeform 2" id="2"/>
          <p:cNvSpPr/>
          <p:nvPr/>
        </p:nvSpPr>
        <p:spPr>
          <a:xfrm flipH="true" flipV="true" rot="0">
            <a:off x="-171306" y="9499384"/>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35223" y="9499384"/>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71306" y="8492855"/>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true" rot="-10800000">
            <a:off x="-171306" y="6479797"/>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10800000">
            <a:off x="-171306" y="7486326"/>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true" rot="0">
            <a:off x="835223" y="6479797"/>
            <a:ext cx="1006529" cy="1006529"/>
          </a:xfrm>
          <a:custGeom>
            <a:avLst/>
            <a:gdLst/>
            <a:ahLst/>
            <a:cxnLst/>
            <a:rect r="r" b="b" t="t" l="l"/>
            <a:pathLst>
              <a:path h="1006529" w="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true" rot="-10800000">
            <a:off x="-171306" y="5473268"/>
            <a:ext cx="2013058" cy="1006529"/>
          </a:xfrm>
          <a:custGeom>
            <a:avLst/>
            <a:gdLst/>
            <a:ahLst/>
            <a:cxnLst/>
            <a:rect r="r" b="b" t="t" l="l"/>
            <a:pathLst>
              <a:path h="1006529" w="2013058">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true" flipV="true" rot="-10800000">
            <a:off x="17500852" y="-203632"/>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10800000">
            <a:off x="15487794" y="-203632"/>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10800000">
            <a:off x="16494323" y="802897"/>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true" flipV="true" rot="0">
            <a:off x="17500852" y="2815955"/>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6494323" y="1809426"/>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true" rot="-10800000">
            <a:off x="16494323" y="2815955"/>
            <a:ext cx="1006529" cy="1006529"/>
          </a:xfrm>
          <a:custGeom>
            <a:avLst/>
            <a:gdLst/>
            <a:ahLst/>
            <a:cxnLst/>
            <a:rect r="r" b="b" t="t" l="l"/>
            <a:pathLst>
              <a:path h="1006529" w="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true" rot="0">
            <a:off x="16494323" y="3822484"/>
            <a:ext cx="2013058" cy="1006529"/>
          </a:xfrm>
          <a:custGeom>
            <a:avLst/>
            <a:gdLst/>
            <a:ahLst/>
            <a:cxnLst/>
            <a:rect r="r" b="b" t="t" l="l"/>
            <a:pathLst>
              <a:path h="1006529" w="2013058">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1841752" y="8492855"/>
            <a:ext cx="1006529" cy="1006529"/>
          </a:xfrm>
          <a:custGeom>
            <a:avLst/>
            <a:gdLst/>
            <a:ahLst/>
            <a:cxnLst/>
            <a:rect r="r" b="b" t="t" l="l"/>
            <a:pathLst>
              <a:path h="1006529" w="1006529">
                <a:moveTo>
                  <a:pt x="0" y="0"/>
                </a:moveTo>
                <a:lnTo>
                  <a:pt x="1006529" y="0"/>
                </a:lnTo>
                <a:lnTo>
                  <a:pt x="1006529" y="1006529"/>
                </a:lnTo>
                <a:lnTo>
                  <a:pt x="0" y="10065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true" flipV="true" rot="0">
            <a:off x="15487794" y="802897"/>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true" flipV="false" rot="-10800000">
            <a:off x="1841752" y="7486326"/>
            <a:ext cx="1006529" cy="1006529"/>
          </a:xfrm>
          <a:custGeom>
            <a:avLst/>
            <a:gdLst/>
            <a:ahLst/>
            <a:cxnLst/>
            <a:rect r="r" b="b" t="t" l="l"/>
            <a:pathLst>
              <a:path h="1006529" w="1006529">
                <a:moveTo>
                  <a:pt x="1006529" y="0"/>
                </a:moveTo>
                <a:lnTo>
                  <a:pt x="0" y="0"/>
                </a:lnTo>
                <a:lnTo>
                  <a:pt x="0" y="1006529"/>
                </a:lnTo>
                <a:lnTo>
                  <a:pt x="1006529" y="1006529"/>
                </a:lnTo>
                <a:lnTo>
                  <a:pt x="1006529"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9" id="19"/>
          <p:cNvSpPr/>
          <p:nvPr/>
        </p:nvSpPr>
        <p:spPr>
          <a:xfrm flipH="false" flipV="true" rot="-10800000">
            <a:off x="15487794" y="1809426"/>
            <a:ext cx="1006529" cy="1006529"/>
          </a:xfrm>
          <a:custGeom>
            <a:avLst/>
            <a:gdLst/>
            <a:ahLst/>
            <a:cxnLst/>
            <a:rect r="r" b="b" t="t" l="l"/>
            <a:pathLst>
              <a:path h="1006529" w="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0" id="20"/>
          <p:cNvSpPr txBox="true"/>
          <p:nvPr/>
        </p:nvSpPr>
        <p:spPr>
          <a:xfrm rot="0">
            <a:off x="4564028" y="1247775"/>
            <a:ext cx="9159943" cy="1793983"/>
          </a:xfrm>
          <a:prstGeom prst="rect">
            <a:avLst/>
          </a:prstGeom>
        </p:spPr>
        <p:txBody>
          <a:bodyPr anchor="t" rtlCol="false" tIns="0" lIns="0" bIns="0" rIns="0">
            <a:spAutoFit/>
          </a:bodyPr>
          <a:lstStyle/>
          <a:p>
            <a:pPr algn="ctr">
              <a:lnSpc>
                <a:spcPts val="10842"/>
              </a:lnSpc>
            </a:pPr>
            <a:r>
              <a:rPr lang="en-US" sz="13222">
                <a:solidFill>
                  <a:srgbClr val="322A65"/>
                </a:solidFill>
                <a:latin typeface="Impact"/>
                <a:ea typeface="Impact"/>
                <a:cs typeface="Impact"/>
                <a:sym typeface="Impact"/>
              </a:rPr>
              <a:t>CONCLUSION</a:t>
            </a:r>
          </a:p>
        </p:txBody>
      </p:sp>
      <p:sp>
        <p:nvSpPr>
          <p:cNvPr name="TextBox 21" id="21"/>
          <p:cNvSpPr txBox="true"/>
          <p:nvPr/>
        </p:nvSpPr>
        <p:spPr>
          <a:xfrm rot="0">
            <a:off x="2345016" y="3262070"/>
            <a:ext cx="13727797" cy="5481590"/>
          </a:xfrm>
          <a:prstGeom prst="rect">
            <a:avLst/>
          </a:prstGeom>
        </p:spPr>
        <p:txBody>
          <a:bodyPr anchor="t" rtlCol="false" tIns="0" lIns="0" bIns="0" rIns="0">
            <a:spAutoFit/>
          </a:bodyPr>
          <a:lstStyle/>
          <a:p>
            <a:pPr algn="ctr">
              <a:lnSpc>
                <a:spcPts val="4003"/>
              </a:lnSpc>
            </a:pPr>
            <a:r>
              <a:rPr lang="en-US" sz="2859">
                <a:solidFill>
                  <a:srgbClr val="322A65"/>
                </a:solidFill>
                <a:latin typeface="Open Sans"/>
                <a:ea typeface="Open Sans"/>
                <a:cs typeface="Open Sans"/>
                <a:sym typeface="Open Sans"/>
              </a:rPr>
              <a:t>The Personalized Weather Comfort App transforms traditional weather forecasting into a user-centric experience by focusing on how weather conditions actually feel to each individual. By integrating real-time meteorological data from NASA’s POWER API with user-defined comfort preferences, the system generates a unique Comfort Score (0–100) for any location and time. This allows users to make smarter decisions for outdoor activities, travel, or event planning.</a:t>
            </a:r>
          </a:p>
          <a:p>
            <a:pPr algn="ctr">
              <a:lnSpc>
                <a:spcPts val="4003"/>
              </a:lnSpc>
            </a:pPr>
            <a:r>
              <a:rPr lang="en-US" sz="2859">
                <a:solidFill>
                  <a:srgbClr val="322A65"/>
                </a:solidFill>
                <a:latin typeface="Open Sans"/>
                <a:ea typeface="Open Sans"/>
                <a:cs typeface="Open Sans"/>
                <a:sym typeface="Open Sans"/>
              </a:rPr>
              <a:t> Through machine learning, the model continuously improves its accuracy based on user feedback, offering more personalized and reliable comfort predictions over time. Ultimately, the project demonstrates how data science can enhance daily life by turning complex environmental data into simple, actionable insights.</a:t>
            </a:r>
          </a:p>
          <a:p>
            <a:pPr algn="ctr">
              <a:lnSpc>
                <a:spcPts val="4003"/>
              </a:lnSpc>
            </a:pP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0FAFF"/>
        </a:solidFill>
      </p:bgPr>
    </p:bg>
    <p:spTree>
      <p:nvGrpSpPr>
        <p:cNvPr id="1" name=""/>
        <p:cNvGrpSpPr/>
        <p:nvPr/>
      </p:nvGrpSpPr>
      <p:grpSpPr>
        <a:xfrm>
          <a:off x="0" y="0"/>
          <a:ext cx="0" cy="0"/>
          <a:chOff x="0" y="0"/>
          <a:chExt cx="0" cy="0"/>
        </a:xfrm>
      </p:grpSpPr>
      <p:sp>
        <p:nvSpPr>
          <p:cNvPr name="Freeform 2" id="2"/>
          <p:cNvSpPr/>
          <p:nvPr/>
        </p:nvSpPr>
        <p:spPr>
          <a:xfrm flipH="true" flipV="true" rot="0">
            <a:off x="-171306" y="9499384"/>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835223" y="9499384"/>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71306" y="8492855"/>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true" rot="-10800000">
            <a:off x="-171306" y="6479797"/>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10800000">
            <a:off x="-171306" y="7486326"/>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true" rot="0">
            <a:off x="835223" y="6479797"/>
            <a:ext cx="1006529" cy="1006529"/>
          </a:xfrm>
          <a:custGeom>
            <a:avLst/>
            <a:gdLst/>
            <a:ahLst/>
            <a:cxnLst/>
            <a:rect r="r" b="b" t="t" l="l"/>
            <a:pathLst>
              <a:path h="1006529" w="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8" id="8"/>
          <p:cNvSpPr/>
          <p:nvPr/>
        </p:nvSpPr>
        <p:spPr>
          <a:xfrm flipH="false" flipV="true" rot="-10800000">
            <a:off x="-171306" y="5473268"/>
            <a:ext cx="2013058" cy="1006529"/>
          </a:xfrm>
          <a:custGeom>
            <a:avLst/>
            <a:gdLst/>
            <a:ahLst/>
            <a:cxnLst/>
            <a:rect r="r" b="b" t="t" l="l"/>
            <a:pathLst>
              <a:path h="1006529" w="2013058">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true" flipV="true" rot="-10800000">
            <a:off x="17500852" y="-203632"/>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10800000">
            <a:off x="15487794" y="-203632"/>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10800000">
            <a:off x="16494323" y="802897"/>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2" id="12"/>
          <p:cNvSpPr/>
          <p:nvPr/>
        </p:nvSpPr>
        <p:spPr>
          <a:xfrm flipH="true" flipV="true" rot="0">
            <a:off x="17500852" y="2815955"/>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3" id="13"/>
          <p:cNvSpPr/>
          <p:nvPr/>
        </p:nvSpPr>
        <p:spPr>
          <a:xfrm flipH="false" flipV="false" rot="0">
            <a:off x="16494323" y="1809426"/>
            <a:ext cx="2013058" cy="1006529"/>
          </a:xfrm>
          <a:custGeom>
            <a:avLst/>
            <a:gdLst/>
            <a:ahLst/>
            <a:cxnLst/>
            <a:rect r="r" b="b" t="t" l="l"/>
            <a:pathLst>
              <a:path h="1006529" w="2013058">
                <a:moveTo>
                  <a:pt x="0" y="0"/>
                </a:moveTo>
                <a:lnTo>
                  <a:pt x="2013058" y="0"/>
                </a:lnTo>
                <a:lnTo>
                  <a:pt x="2013058" y="1006529"/>
                </a:lnTo>
                <a:lnTo>
                  <a:pt x="0" y="10065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true" rot="-10800000">
            <a:off x="16494323" y="2815955"/>
            <a:ext cx="1006529" cy="1006529"/>
          </a:xfrm>
          <a:custGeom>
            <a:avLst/>
            <a:gdLst/>
            <a:ahLst/>
            <a:cxnLst/>
            <a:rect r="r" b="b" t="t" l="l"/>
            <a:pathLst>
              <a:path h="1006529" w="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5" id="15"/>
          <p:cNvSpPr/>
          <p:nvPr/>
        </p:nvSpPr>
        <p:spPr>
          <a:xfrm flipH="false" flipV="true" rot="0">
            <a:off x="16494323" y="3822484"/>
            <a:ext cx="2013058" cy="1006529"/>
          </a:xfrm>
          <a:custGeom>
            <a:avLst/>
            <a:gdLst/>
            <a:ahLst/>
            <a:cxnLst/>
            <a:rect r="r" b="b" t="t" l="l"/>
            <a:pathLst>
              <a:path h="1006529" w="2013058">
                <a:moveTo>
                  <a:pt x="0" y="1006529"/>
                </a:moveTo>
                <a:lnTo>
                  <a:pt x="2013058" y="1006529"/>
                </a:lnTo>
                <a:lnTo>
                  <a:pt x="2013058" y="0"/>
                </a:lnTo>
                <a:lnTo>
                  <a:pt x="0" y="0"/>
                </a:lnTo>
                <a:lnTo>
                  <a:pt x="0" y="1006529"/>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6" id="16"/>
          <p:cNvSpPr/>
          <p:nvPr/>
        </p:nvSpPr>
        <p:spPr>
          <a:xfrm flipH="false" flipV="false" rot="0">
            <a:off x="1841752" y="8492855"/>
            <a:ext cx="1006529" cy="1006529"/>
          </a:xfrm>
          <a:custGeom>
            <a:avLst/>
            <a:gdLst/>
            <a:ahLst/>
            <a:cxnLst/>
            <a:rect r="r" b="b" t="t" l="l"/>
            <a:pathLst>
              <a:path h="1006529" w="1006529">
                <a:moveTo>
                  <a:pt x="0" y="0"/>
                </a:moveTo>
                <a:lnTo>
                  <a:pt x="1006529" y="0"/>
                </a:lnTo>
                <a:lnTo>
                  <a:pt x="1006529" y="1006529"/>
                </a:lnTo>
                <a:lnTo>
                  <a:pt x="0" y="100652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7" id="17"/>
          <p:cNvSpPr/>
          <p:nvPr/>
        </p:nvSpPr>
        <p:spPr>
          <a:xfrm flipH="true" flipV="true" rot="0">
            <a:off x="15487794" y="802897"/>
            <a:ext cx="1006529" cy="1006529"/>
          </a:xfrm>
          <a:custGeom>
            <a:avLst/>
            <a:gdLst/>
            <a:ahLst/>
            <a:cxnLst/>
            <a:rect r="r" b="b" t="t" l="l"/>
            <a:pathLst>
              <a:path h="1006529" w="1006529">
                <a:moveTo>
                  <a:pt x="1006529" y="1006529"/>
                </a:moveTo>
                <a:lnTo>
                  <a:pt x="0" y="1006529"/>
                </a:lnTo>
                <a:lnTo>
                  <a:pt x="0" y="0"/>
                </a:lnTo>
                <a:lnTo>
                  <a:pt x="1006529" y="0"/>
                </a:lnTo>
                <a:lnTo>
                  <a:pt x="1006529"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8" id="18"/>
          <p:cNvSpPr/>
          <p:nvPr/>
        </p:nvSpPr>
        <p:spPr>
          <a:xfrm flipH="true" flipV="false" rot="-10800000">
            <a:off x="1841752" y="7486326"/>
            <a:ext cx="1006529" cy="1006529"/>
          </a:xfrm>
          <a:custGeom>
            <a:avLst/>
            <a:gdLst/>
            <a:ahLst/>
            <a:cxnLst/>
            <a:rect r="r" b="b" t="t" l="l"/>
            <a:pathLst>
              <a:path h="1006529" w="1006529">
                <a:moveTo>
                  <a:pt x="1006529" y="0"/>
                </a:moveTo>
                <a:lnTo>
                  <a:pt x="0" y="0"/>
                </a:lnTo>
                <a:lnTo>
                  <a:pt x="0" y="1006529"/>
                </a:lnTo>
                <a:lnTo>
                  <a:pt x="1006529" y="1006529"/>
                </a:lnTo>
                <a:lnTo>
                  <a:pt x="1006529"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9" id="19"/>
          <p:cNvSpPr/>
          <p:nvPr/>
        </p:nvSpPr>
        <p:spPr>
          <a:xfrm flipH="false" flipV="true" rot="-10800000">
            <a:off x="15487794" y="1809426"/>
            <a:ext cx="1006529" cy="1006529"/>
          </a:xfrm>
          <a:custGeom>
            <a:avLst/>
            <a:gdLst/>
            <a:ahLst/>
            <a:cxnLst/>
            <a:rect r="r" b="b" t="t" l="l"/>
            <a:pathLst>
              <a:path h="1006529" w="1006529">
                <a:moveTo>
                  <a:pt x="0" y="1006529"/>
                </a:moveTo>
                <a:lnTo>
                  <a:pt x="1006529" y="1006529"/>
                </a:lnTo>
                <a:lnTo>
                  <a:pt x="1006529" y="0"/>
                </a:lnTo>
                <a:lnTo>
                  <a:pt x="0" y="0"/>
                </a:lnTo>
                <a:lnTo>
                  <a:pt x="0" y="1006529"/>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20" id="20"/>
          <p:cNvSpPr txBox="true"/>
          <p:nvPr/>
        </p:nvSpPr>
        <p:spPr>
          <a:xfrm rot="0">
            <a:off x="4802858" y="3125245"/>
            <a:ext cx="8682285" cy="4341311"/>
          </a:xfrm>
          <a:prstGeom prst="rect">
            <a:avLst/>
          </a:prstGeom>
        </p:spPr>
        <p:txBody>
          <a:bodyPr anchor="t" rtlCol="false" tIns="0" lIns="0" bIns="0" rIns="0">
            <a:spAutoFit/>
          </a:bodyPr>
          <a:lstStyle/>
          <a:p>
            <a:pPr algn="ctr">
              <a:lnSpc>
                <a:spcPts val="14853"/>
              </a:lnSpc>
            </a:pPr>
            <a:r>
              <a:rPr lang="en-US" sz="18114">
                <a:solidFill>
                  <a:srgbClr val="322A65"/>
                </a:solidFill>
                <a:latin typeface="Impact"/>
                <a:ea typeface="Impact"/>
                <a:cs typeface="Impact"/>
                <a:sym typeface="Impact"/>
              </a:rPr>
              <a:t>THANK</a:t>
            </a:r>
          </a:p>
          <a:p>
            <a:pPr algn="ctr">
              <a:lnSpc>
                <a:spcPts val="14853"/>
              </a:lnSpc>
            </a:pPr>
            <a:r>
              <a:rPr lang="en-US" sz="18114">
                <a:solidFill>
                  <a:srgbClr val="322A65"/>
                </a:solidFill>
                <a:latin typeface="Impact"/>
                <a:ea typeface="Impact"/>
                <a:cs typeface="Impact"/>
                <a:sym typeface="Impact"/>
              </a:rPr>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DAG0781hLQo</dc:identifier>
  <dcterms:modified xsi:type="dcterms:W3CDTF">2011-08-01T06:04:30Z</dcterms:modified>
  <cp:revision>1</cp:revision>
  <dc:title>Presented By CosmoCatalysts</dc:title>
</cp:coreProperties>
</file>